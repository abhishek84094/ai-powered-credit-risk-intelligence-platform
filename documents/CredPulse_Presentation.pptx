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Calibri"/>
              </a:rPr>
              <a:t>Validation ROC-AUC by Experiment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ROC-AUC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ED-4D37-BB5D-1229F0142964}"/>
              </c:ext>
            </c:extLst>
          </c:dPt>
          <c:dPt>
            <c:idx val="1"/>
            <c:invertIfNegative val="0"/>
            <c:bubble3D val="0"/>
            <c:spPr>
              <a:solidFill>
                <a:srgbClr val="6D78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ED-4D37-BB5D-1229F0142964}"/>
              </c:ext>
            </c:extLst>
          </c:dPt>
          <c:dPt>
            <c:idx val="2"/>
            <c:invertIfNegative val="0"/>
            <c:bubble3D val="0"/>
            <c:spPr>
              <a:solidFill>
                <a:srgbClr val="16A8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ED-4D37-BB5D-1229F0142964}"/>
              </c:ext>
            </c:extLst>
          </c:dPt>
          <c:dPt>
            <c:idx val="3"/>
            <c:invertIfNegative val="0"/>
            <c:bubble3D val="0"/>
            <c:spPr>
              <a:solidFill>
                <a:srgbClr val="6D78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ED-4D37-BB5D-1229F0142964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Default
LightGBM</c:v>
                </c:pt>
                <c:pt idx="2">
                  <c:v>Tuned LightGBM
(Production)</c:v>
                </c:pt>
                <c:pt idx="3">
                  <c:v>XGBoost
Benchmark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0.76419999999999999</c:v>
                </c:pt>
                <c:pt idx="1">
                  <c:v>0.77329999999999999</c:v>
                </c:pt>
                <c:pt idx="2">
                  <c:v>0.78120000000000001</c:v>
                </c:pt>
                <c:pt idx="3">
                  <c:v>0.77649999999999997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DED-4D37-BB5D-1229F014296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7"/>
        </c:scaling>
        <c:delete val="0"/>
        <c:axPos val="l"/>
        <c:majorGridlines>
          <c:spPr>
            <a:ln w="12700" cap="flat">
              <a:solidFill>
                <a:srgbClr val="D9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596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43400"/>
            <a:ext cx="12188952" cy="251460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0250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CredPulse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Credit Risk Intelligence Platform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41248" y="3703320"/>
            <a:ext cx="2194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NeoStats — AI Engineer Candidate Assignment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Abhishek  •  github.com/Abhishek84094/AI-Powered-Credit-Risk-Intelligence-Platform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" y="5806440"/>
            <a:ext cx="2606040" cy="50292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Dataset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75888" y="5806440"/>
            <a:ext cx="2606040" cy="50292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75888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307K+ Applicants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10528" y="5806440"/>
            <a:ext cx="2606040" cy="50292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10528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Explainable Credit Decisions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must identify high-risk applicants early, automate scoring, and justify every decision to regulators and applicants alike. CredPulse combines a calibrated ML risk model, exact Shapley-value explanations, and a natural-language analytics layer into one deployable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6492240" cy="987552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14553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3311957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308152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 Scoring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41071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default-probability model with LOW / MEDIUM / HIGH risk bands.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4142232"/>
            <a:ext cx="6492240" cy="987552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43159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48238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1640" y="42519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Explainability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45811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attributions justify every decision with adverse-action reasoning.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5312664"/>
            <a:ext cx="6492240" cy="987552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5486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56528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542239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Self-Service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57515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questions answered directly against 307K+ records via SQL.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452360" y="1508760"/>
            <a:ext cx="4114800" cy="4892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81812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SCOPE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818120" y="2240280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2321113"/>
            <a:ext cx="149230" cy="1492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75320" y="2221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818120" y="2816352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2897185"/>
            <a:ext cx="149230" cy="1492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75320" y="2798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 Model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818120" y="3392424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3473257"/>
            <a:ext cx="149230" cy="14923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275320" y="3374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(TreeSHAP)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7818120" y="3968496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4049329"/>
            <a:ext cx="149230" cy="14923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7532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Talk-to-Data (NL → SQL)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7818120" y="4544568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4625401"/>
            <a:ext cx="149230" cy="14923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27532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Engine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7818120" y="5120640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5201473"/>
            <a:ext cx="149230" cy="14923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275320" y="5102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UI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7818120" y="5696712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953" y="5777545"/>
            <a:ext cx="149230" cy="14923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8275320" y="5678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Deployment</a:t>
            </a:r>
            <a:endParaRPr lang="en-US" sz="1250" dirty="0"/>
          </a:p>
        </p:txBody>
      </p:sp>
      <p:sp>
        <p:nvSpPr>
          <p:cNvPr id="4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Six-Layer Modular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FRONTEND — EDA · Risk Scoring · Explainability · Business Rules · Talk-to-Data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881360" cy="59436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Async REST Endpoints · Pydantic V2 Schemas · CORS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474720" cy="11430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55975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6868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ML Scoring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3246120"/>
            <a:ext cx="3474720" cy="11430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35597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TreeSHAP XAI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3246120"/>
            <a:ext cx="3474720" cy="11430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079" y="35597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7532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Business Rules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6868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LightGBM (ROC-AUC 0.7812), isotonic calibration, F1-optimal thresholding.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Shapley attributions, waterfall view, adverse-action reasoning.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evidence-based guardrails derived from EDA + SHAP importance.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40080" y="5257800"/>
            <a:ext cx="10881360" cy="59436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— TALK-TO-DATA — Groq Llama-3.3-70B · Deterministic Offline Fallback · SQL Safety Firewall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ANALYTICAL DATABASE — 307K Applicants · 305K Bureau Records · 1.67M Previous Applications · 339K Installments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 &amp; Exploratory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6032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307,511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Analyzed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56032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 Joined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6032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8.07%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Default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1600200"/>
            <a:ext cx="256032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 : 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2044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5753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credit scores (EXT_SOURCE) are the strongest predictors — defaulter mean 0.41 vs 0.52 for non-defaulters.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352044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52044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35753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under 30 show materially higher default rates than the 8.07% baseline.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38912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4439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applicants carry a DAYS_EMPLOYED sentinel value indicating unemployed/pensioner status — default rate 5.4% vs 8.66%.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438912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38912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44439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credit-to-income ratio correlates with elevated default risk.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25780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3126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loan refusals by Home Credit are a strong engineered risk signal.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5257800"/>
            <a:ext cx="5349240" cy="749808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525780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53126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default gap observed (10.1% vs 7.0%) — flagged as analytical only, excluded from lending decisions per fair-lending practice.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Selection: 4 Experiments, 5-Fold CV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08760"/>
          <a:ext cx="6309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78040" y="15087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Tuned LightGBM Won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78040" y="1965960"/>
            <a:ext cx="365760" cy="36576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2061058"/>
            <a:ext cx="175565" cy="1755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(0.7812) and PR-AUC (0.2741) across all 4 experiments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178040" y="2743200"/>
            <a:ext cx="365760" cy="36576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2838298"/>
            <a:ext cx="175565" cy="1755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scale_pos_weight handles imbalance without resampling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178040" y="3520440"/>
            <a:ext cx="365760" cy="36576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3615538"/>
            <a:ext cx="175565" cy="1755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80960" y="3474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histogram-based training across 293 sparse engineered features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178040" y="4297680"/>
            <a:ext cx="365760" cy="36576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4392778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680960" y="4251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runs in exact polynomial time on the resulting ensemble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914400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950" dirty="0"/>
          </a:p>
        </p:txBody>
      </p:sp>
      <p:sp>
        <p:nvSpPr>
          <p:cNvPr id="20" name="Text 13"/>
          <p:cNvSpPr txBox="1"/>
          <p:nvPr/>
        </p:nvSpPr>
        <p:spPr>
          <a:xfrm>
            <a:off x="91440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engineered features across 5 source tables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4297680" y="5742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Strategy</a:t>
            </a:r>
            <a:endParaRPr lang="en-US" sz="950" dirty="0"/>
          </a:p>
        </p:txBody>
      </p:sp>
      <p:sp>
        <p:nvSpPr>
          <p:cNvPr id="22" name="Text 15"/>
          <p:cNvSpPr txBox="1"/>
          <p:nvPr/>
        </p:nvSpPr>
        <p:spPr>
          <a:xfrm>
            <a:off x="4297680" y="5989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11.4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7589520" y="5742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</a:t>
            </a:r>
            <a:endParaRPr 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758952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CV, leakage-safe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Calibration &amp; Risk Bands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optimizes rank-ordering (ROC-AUC) but distorts raw probabilities. Isotonic regression (CalibratedClassifierCV) maps raw LightGBM scores to true posterior probabilities, so risk bands reflect real-world default rates.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32004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3520440" cy="548640"/>
          </a:xfrm>
          <a:prstGeom prst="rect">
            <a:avLst/>
          </a:prstGeom>
          <a:solidFill>
            <a:srgbClr val="16A8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&lt; 5.0%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97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default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51660" y="4709160"/>
            <a:ext cx="10972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~42% of applicants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520440" cy="32004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331720"/>
            <a:ext cx="3520440" cy="548640"/>
          </a:xfrm>
          <a:prstGeom prst="rect">
            <a:avLst/>
          </a:prstGeom>
          <a:solidFill>
            <a:srgbClr val="E1A3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768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 ≤ PD &lt; 20.0%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1A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297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default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09260" y="4709160"/>
            <a:ext cx="10972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~47% of applicants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55280" y="2331720"/>
            <a:ext cx="3520440" cy="32004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331720"/>
            <a:ext cx="3520440" cy="5486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5528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≥ 20.0%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24.8%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4297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default rate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66860" y="4709160"/>
            <a:ext cx="1097280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of applicants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verified: observed within-band default rates increase monotonically with predicted risk band, confirming the isotonic mapping is trustworthy for underwriting use.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— TreeSHAP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explained with exact Shapley values computed on the same processed feature vector used for scoring — not a generic summary. Each risk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is shown with its direction of effect (increases or reduces risk) in plain English, suitable for a non-technical underwriter.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82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3044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per-applicant attribution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3192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this specific decision, not a generic model summary.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507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913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&amp; reproducible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4187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base_value + Σ shap values reconstructs the model's raw output exactly, every run.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9194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7823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Adverse-action ready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5056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Risk-increasing and risk-reducing factors surfaced separately for compliance.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572500" y="3086100"/>
            <a:ext cx="640080" cy="640080"/>
          </a:xfrm>
          <a:prstGeom prst="ellipse">
            <a:avLst/>
          </a:prstGeom>
          <a:solidFill>
            <a:srgbClr val="F3F6FC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CEE618E-DF93-A6A0-FF88-01EFAF6F6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260" y="883920"/>
            <a:ext cx="6158200" cy="53390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Talk-to-Data — Natural Language to SQL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4173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Verified Answer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92240" y="18562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Schema-only prompting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1488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sees table/column schemas only — never real values — eliminating fabricated figures.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2862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firewall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1546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DROP, DELETE, UPDATE, INSERT, ALTER, ATTACH and enforces row LIMITs before execution.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3886200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92240" y="38679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offline fallback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1605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hard-coded query templates answer common questions with zero API key or internet dependency.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63640" y="4892040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0" y="48737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a real query result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51663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come from SQL executed against 307K+ actual records — not model-generated text.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E1805D1-3B7F-20B4-AD42-A77437C1F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18" y="1732788"/>
            <a:ext cx="5847986" cy="43708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Evidence-Based Business Rules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derived from empirical EDA correlations and SHAP importance rankings — not arbitrary thresholds.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822960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External Credit Score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EXT_SOURCE &lt; 0.35 → 21.4% default rate vs 3.2% for prime applicants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920240"/>
            <a:ext cx="822960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5112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Debt Burden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Credit-to-income ratio &gt; 4.0 flags disproportionate debt load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10144" y="1920240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920240"/>
            <a:ext cx="822960" cy="384048"/>
          </a:xfrm>
          <a:prstGeom prst="rect">
            <a:avLst/>
          </a:prstGeom>
          <a:solidFill>
            <a:srgbClr val="E1A3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10144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+ Thin Credit File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93024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&lt; 25 with EXT_SOURCE &lt; 0.40 → 11.5% default rate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685032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85032"/>
            <a:ext cx="822960" cy="384048"/>
          </a:xfrm>
          <a:prstGeom prst="rect">
            <a:avLst/>
          </a:prstGeom>
          <a:solidFill>
            <a:srgbClr val="E1A3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685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BR-04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Application Refusals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99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prior refusals → defaulters average 2.3× more rejections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25112" y="3685032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25112" y="3685032"/>
            <a:ext cx="822960" cy="384048"/>
          </a:xfrm>
          <a:prstGeom prst="rect">
            <a:avLst/>
          </a:prstGeom>
          <a:solidFill>
            <a:srgbClr val="E1A3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25112" y="3685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Installment History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4599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delayed payments signals liquidity distress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10144" y="3685032"/>
            <a:ext cx="3520440" cy="160020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0144" y="3685032"/>
            <a:ext cx="822960" cy="384048"/>
          </a:xfrm>
          <a:prstGeom prst="rect">
            <a:avLst/>
          </a:prstGeom>
          <a:solidFill>
            <a:srgbClr val="16A8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10144" y="3685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BR-06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93024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Fast-Track Pass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193024" y="4599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 &gt; 0.55 &amp; DTI &lt; 3.0 → &lt;2.0% default, auto-approval eligible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USER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UI: EDA overview with dataset stats and key charts.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76175E-9254-58AF-933A-29BC3BC06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82" y="1905000"/>
            <a:ext cx="11024196" cy="440131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USER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Risk Prediction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intake form with calibrated risk score, band, and SHAP explanation.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63335D-5EBF-57A3-2576-6604104DE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" y="1886063"/>
            <a:ext cx="11013440" cy="45147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USER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Business Rules Panel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simulator showing which of the 6 guardrails an applicant triggers.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BE15E1-36B6-2E8C-7C4C-1B8230425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05" y="1976120"/>
            <a:ext cx="10930549" cy="425907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Dockerized, Single-Command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85800" cy="68580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7785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multi-stage Dockerfile builds the React frontend and Python backend into a single image. A startup entrypoint script automatically prepares the analytical database — from a bundled seed database, mounted Kaggle CSVs, or a graceful offline notice — so the evaluator never has to run a manual step.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5349240" cy="141732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926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644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build: Node build stage for the React frontend, Python 3.11 slim runtime for FastAPI + LightGBM + SHAP.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2788920"/>
            <a:ext cx="5349240" cy="141732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2926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2644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Single-service orchestration, port mapping, health check, and volume mounts for data/models/reports.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4389120"/>
            <a:ext cx="5349240" cy="141732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526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docker-entrypoint.sh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48646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and activates the analytical database: seed DB → mounted CSVs → offline notice, in that order.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4389120"/>
            <a:ext cx="5349240" cy="1417320"/>
          </a:xfrm>
          <a:prstGeom prst="rect">
            <a:avLst/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4526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8646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every required variable — Groq API key, port, database path — so no configuration is guessed.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 →  full platform running on http://localhost:8000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NOTES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2065812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9202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run on the pre-calibration base model; direction and ranking of factors remain valid since isotonic calibration is monotonic, but raw magnitudes differ from the displayed calibrated percentage.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1173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9718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Feature-name/pipeline-output alignment is now protected by a hard startup assertion, added after an earlier column-drift issue was found during review.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4168932"/>
            <a:ext cx="184343" cy="184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40233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 currently permissive (wildcard origin) since the entire application — frontend and backend — is deployed as a single service on Render; would be scoped to specific origins if the frontend were split into a separately hosted deployment.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309360" y="196596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12" y="2065812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0" y="19202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in Talk-to-Data so follow-up questions resolve against prior query context.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309360" y="301752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12" y="311737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858000" y="29718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POS_CASH_balance and credit_card_balance tables for a fuller behavioral feature set.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309360" y="4069080"/>
            <a:ext cx="384048" cy="384048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12" y="4168932"/>
            <a:ext cx="184343" cy="18434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58000" y="40233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SQLite to PostgreSQL if the platform moves beyond a single-user demo deployment.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32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1188720"/>
            <a:ext cx="914400" cy="91440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4264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3774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CredPulse — AI-Powered Credit Risk Intelligence Platform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42716" y="4114800"/>
            <a:ext cx="365760" cy="36576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814" y="4209898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45636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github.com/Abhishek84094/AI-Powered-Credit-Risk-Intelligence-Platform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-121920" y="5328059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 the NeoStats AI Engineer Role</a:t>
            </a:r>
            <a:endParaRPr lang="en-US" sz="1100" dirty="0"/>
          </a:p>
        </p:txBody>
      </p:sp>
      <p:pic>
        <p:nvPicPr>
          <p:cNvPr id="11" name="Image 2">
            <a:extLst>
              <a:ext uri="{FF2B5EF4-FFF2-40B4-BE49-F238E27FC236}">
                <a16:creationId xmlns:a16="http://schemas.microsoft.com/office/drawing/2014/main" id="{44E8AE29-B699-E82B-CE30-041CE73F4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628" y="4728341"/>
            <a:ext cx="270662" cy="2706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5E70B3-A45F-E1AA-4D9E-F31405A30869}"/>
              </a:ext>
            </a:extLst>
          </p:cNvPr>
          <p:cNvSpPr txBox="1"/>
          <p:nvPr/>
        </p:nvSpPr>
        <p:spPr>
          <a:xfrm>
            <a:off x="3945636" y="4709160"/>
            <a:ext cx="36534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6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ai-powered-credit-risk-intelligence.onrender.com</a:t>
            </a:r>
            <a:endParaRPr lang="en-US" sz="1200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1432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Kumar</cp:lastModifiedBy>
  <cp:revision>2</cp:revision>
  <dcterms:created xsi:type="dcterms:W3CDTF">2026-09-06T16:45:38Z</dcterms:created>
  <dcterms:modified xsi:type="dcterms:W3CDTF">2026-09-06T17:14:32Z</dcterms:modified>
</cp:coreProperties>
</file>