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Calibri"/>
              </a:rPr>
              <a:t>Validation ROC-AUC by Experiment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C9-400C-A1E2-D8E3AA9A0428}"/>
              </c:ext>
            </c:extLst>
          </c:dPt>
          <c:dPt>
            <c:idx val="1"/>
            <c:invertIfNegative val="0"/>
            <c:bubble3D val="0"/>
            <c:spPr>
              <a:solidFill>
                <a:srgbClr val="6D78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C9-400C-A1E2-D8E3AA9A0428}"/>
              </c:ext>
            </c:extLst>
          </c:dPt>
          <c:dPt>
            <c:idx val="2"/>
            <c:invertIfNegative val="0"/>
            <c:bubble3D val="0"/>
            <c:spPr>
              <a:solidFill>
                <a:srgbClr val="16A8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C9-400C-A1E2-D8E3AA9A0428}"/>
              </c:ext>
            </c:extLst>
          </c:dPt>
          <c:dPt>
            <c:idx val="3"/>
            <c:invertIfNegative val="0"/>
            <c:bubble3D val="0"/>
            <c:spPr>
              <a:solidFill>
                <a:srgbClr val="6D78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C9-400C-A1E2-D8E3AA9A0428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Default
LightGBM</c:v>
                </c:pt>
                <c:pt idx="2">
                  <c:v>Tuned LightGBM
(Production)</c:v>
                </c:pt>
                <c:pt idx="3">
                  <c:v>XGBoost
Benchmark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0.76419999999999999</c:v>
                </c:pt>
                <c:pt idx="1">
                  <c:v>0.77329999999999999</c:v>
                </c:pt>
                <c:pt idx="2">
                  <c:v>0.78120000000000001</c:v>
                </c:pt>
                <c:pt idx="3">
                  <c:v>0.77649999999999997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C9-400C-A1E2-D8E3AA9A04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7"/>
        </c:scaling>
        <c:delete val="0"/>
        <c:axPos val="l"/>
        <c:majorGridlines>
          <c:spPr>
            <a:ln w="12700" cap="flat">
              <a:solidFill>
                <a:srgbClr val="D9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7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12188952" cy="251460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0250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CredPulse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Intelligence Platform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41248" y="370332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NeoStats — AI Engineer Candidate Assignment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Abhishek  •  github.com/Abhishek84094/AI-Powered-Credit-Risk-Intelligence-Platform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ai-powered-credit-risk-intelligence.onrender.com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" y="5943600"/>
            <a:ext cx="2606040" cy="5029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" y="5943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Dataset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75888" y="5943600"/>
            <a:ext cx="2606040" cy="5029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75888" y="5943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307K+ Applicants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10528" y="5943600"/>
            <a:ext cx="2606040" cy="5029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10528" y="5943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Explainable Credit Decisions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must identify high-risk applicants early, automate scoring, and justify every decision to regulators and applicants alike. CredPulse combines a calibrated ML risk model, exact Shapley-value explanations, and a natural-language analytics layer into one deployable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6492240" cy="987552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1455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3311957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308152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Scoring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4107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default-probability model with LOW / MEDIUM / HIGH risk bands.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142232"/>
            <a:ext cx="6492240" cy="987552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315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4823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4251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Explainability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45811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attributions justify every decision with adverse-action reasoning.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5312664"/>
            <a:ext cx="6492240" cy="987552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5486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6528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54223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Self-Service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57515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questions answered directly against 307K+ records via SQL.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452360" y="1508760"/>
            <a:ext cx="4114800" cy="4892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8181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SCOPE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818120" y="2240280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2321113"/>
            <a:ext cx="149230" cy="1492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75320" y="2221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818120" y="2816352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2897185"/>
            <a:ext cx="149230" cy="1492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75320" y="2798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 Model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818120" y="3392424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3473257"/>
            <a:ext cx="149230" cy="14923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75320" y="3374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(TreeSHAP)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7818120" y="3968496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4049329"/>
            <a:ext cx="149230" cy="14923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7532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Talk-to-Data (NL → SQL)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7818120" y="4544568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4625401"/>
            <a:ext cx="149230" cy="14923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27532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Engine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7818120" y="5120640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5201473"/>
            <a:ext cx="149230" cy="14923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27532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UI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7818120" y="5696712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5777545"/>
            <a:ext cx="149230" cy="14923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275320" y="5678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Deployment</a:t>
            </a:r>
            <a:endParaRPr lang="en-US" sz="1250" dirty="0"/>
          </a:p>
        </p:txBody>
      </p:sp>
      <p:sp>
        <p:nvSpPr>
          <p:cNvPr id="4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Six-Layer Modular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 — EDA · Risk Scoring · Explainability · Business Rules · Talk-to-Data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881360" cy="59436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Async REST Endpoints · Pydantic V2 Schemas · CORS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474720" cy="11430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55975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6868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ML Scoring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3246120"/>
            <a:ext cx="3474720" cy="11430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35597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TreeSHAP XAI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3246120"/>
            <a:ext cx="3474720" cy="11430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079" y="35597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7532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Business Rules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6868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LightGBM (ROC-AUC 0.7812), isotonic calibration, F1-optimal thresholding.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Shapley attributions, waterfall view, adverse-action reasoning.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evidence-based guardrails derived from EDA + SHAP importance.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40080" y="5257800"/>
            <a:ext cx="10881360" cy="59436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— TALK-TO-DATA — Groq Llama-3.3-70B · Deterministic Offline Fallback · SQL Safety Firewall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ANALYTICAL DATABASE — 307K Applicants · 305K Bureau Records · 1.67M Previous Applications · 339K Installments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 &amp; Exploratory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307,511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Analyzed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Joined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 : 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2044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5753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credit scores (EXT_SOURCE) are the strongest predictors — defaulter mean 0.41 vs 0.52 for non-defaulters.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52044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52044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5753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under 30 show materially higher default rates than the 8.07% baseline.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8912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4439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applicants carry a DAYS_EMPLOYED sentinel value indicating unemployed/pensioner status — default rate 5.4% vs 8.66%.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38912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44439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credit-to-income ratio correlates with elevated default risk.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25780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3126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loan refusals by Home Credit are a strong engineered risk signal.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525780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25780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53126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default gap observed (10.1% vs 7.0%) — flagged as analytical only, excluded from lending decisions per fair-lending practice.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Selection: 4 Experiments, 5-Fold CV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08760"/>
          <a:ext cx="6309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78040" y="15087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Tuned LightGBM Won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78040" y="196596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2061058"/>
            <a:ext cx="175565" cy="1755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(0.7812) and PR-AUC (0.2741) across all 4 experiments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178040" y="274320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2838298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scale_pos_weight handles imbalance without resampling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178040" y="352044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3615538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0" y="3474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histogram-based training across 339 engineered features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178040" y="429768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4392778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80960" y="4251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runs in exact polynomial time on the resulting ensemble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14400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95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engineered features across 5 source tables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4297680" y="5742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Strategy</a:t>
            </a:r>
            <a:endParaRPr lang="en-US" sz="950" dirty="0"/>
          </a:p>
        </p:txBody>
      </p:sp>
      <p:sp>
        <p:nvSpPr>
          <p:cNvPr id="22" name="Text 15"/>
          <p:cNvSpPr txBox="1"/>
          <p:nvPr/>
        </p:nvSpPr>
        <p:spPr>
          <a:xfrm>
            <a:off x="4297680" y="5989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11.4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589520" y="5742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758952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CV, leakage-safe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Model — Hold-Out Test Validation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30,752 unseen test applicants using the final serialized production model (lgbm_calibrated.pkl, retrained on 276,759 rows).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55448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305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78.53%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15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ROC-AUC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Discriminatory power across unseen applicants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20440" cy="155448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21305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91.91%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715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(t=0.50)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at default 50% cutoff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10144" y="1965960"/>
            <a:ext cx="3520440" cy="155448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38744" y="21305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86.56%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2715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Accuracy (t=0.20)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conservative high-risk boundary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3520440" cy="155448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8496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40.99%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434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Recall (t=0.20)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736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 ~41% of all defaults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25112" y="3685032"/>
            <a:ext cx="3520440" cy="155448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3712" y="38496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27.52%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434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Precision (t=0.20)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736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 enrichment above 8.07% baseline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10144" y="3685032"/>
            <a:ext cx="3520440" cy="155448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8744" y="38496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26.10%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238744" y="4434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38744" y="4736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AUC under 11.4:1 imbalance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Brier Score: 0.0658  (down from 0.1970 pre-calibration) — low probability error, verified on the same unseen set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Calibration &amp; Risk Bands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optimizes rank-ordering (ROC-AUC) but distorts raw probabilities. Isotonic regression (CalibratedClassifierCV) maps raw LightGBM scores to true posterior probabilities, so risk bands reflect real-world default rates.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2004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520440" cy="548640"/>
          </a:xfrm>
          <a:prstGeom prst="rect">
            <a:avLst/>
          </a:prstGeom>
          <a:solidFill>
            <a:srgbClr val="16A8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&lt; 5.0%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97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51660" y="4709160"/>
            <a:ext cx="10972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 of applicants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520440" cy="32004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331720"/>
            <a:ext cx="3520440" cy="548640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 ≤ PD &lt; 20.0%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1A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11.13%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297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09260" y="4709160"/>
            <a:ext cx="10972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32.7% of applicants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2331720"/>
            <a:ext cx="3520440" cy="32004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331720"/>
            <a:ext cx="3520440" cy="5486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≥ 20.0%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36.46%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297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66860" y="4709160"/>
            <a:ext cx="10972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 of applicants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verified: observed within-band default rates increase monotonically with predicted risk band, confirming the isotonic mapping is trustworthy for underwriting use.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— TreeSHAP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explained with exact Shapley values computed on the same processed feature vector used for scoring — not a generic summary. Each risk factor is shown with its direction of effect (increases or reduces risk) in plain English, suitable for a non-technical underwriter.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82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044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per-applicant attribution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3192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this specific decision, not a generic model summary.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507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913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&amp; reproducible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base_value + Σ shap values reconstructs the model's raw output exactly, every run.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9194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782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Adverse-action ready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5056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Risk-increasing and risk-reducing factors surfaced separately for compliance.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CA68838-41E5-C3E4-4A8E-53930BF23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41120"/>
            <a:ext cx="5897880" cy="48297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Talk-to-Data — Natural Language to SQL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417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Verified Answer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1856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Schema-only prompting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488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sees table/column schemas only — never real values — eliminating fabricated figures.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2862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firewall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154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DROP, DELETE, UPDATE, INSERT, ALTER, ATTACH and enforces row LIMITs before execution.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388620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92240" y="38679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offline fallback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1605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hard-coded query templates answer common questions with zero API key or internet dependency.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63640" y="489204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0" y="48737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a real query result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51663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come from SQL executed against 307K+ actual records — not model-generated text.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4B2558E-5EFA-F67D-A5A9-A250CF2E7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10" y="1707176"/>
            <a:ext cx="5556770" cy="439644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Evidence-Based Business Rules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derived from empirical EDA correlations and SHAP importance rankings — not arbitrary thresholds.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822960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External Credit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EXT_SOURCE &lt; 0.35 → 21.4% default rate vs 3.2% for prime applicants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920240"/>
            <a:ext cx="822960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5112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Burden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Credit-to-income ratio &gt; 4.0 flags disproportionate debt load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10144" y="1920240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920240"/>
            <a:ext cx="822960" cy="384048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10144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+ Thin Credit File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 25 with EXT_SOURCE &lt; 0.40 → 11.5% default rate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85032"/>
            <a:ext cx="822960" cy="384048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685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Application Refusals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99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prior refusals → defaulters average 2.3× more rejections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25112" y="3685032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3685032"/>
            <a:ext cx="822960" cy="384048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25112" y="3685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Installment History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4599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delayed payments signals liquidity distress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10144" y="3685032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3685032"/>
            <a:ext cx="822960" cy="384048"/>
          </a:xfrm>
          <a:prstGeom prst="rect">
            <a:avLst/>
          </a:prstGeom>
          <a:solidFill>
            <a:srgbClr val="16A8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10144" y="3685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Fast-Track Pass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193024" y="4599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 &gt; 0.55 &amp; DTI &lt; 3.0 → &lt;2.0% default, auto-approval eligible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UI: EDA overview with dataset stats and key charts.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51998C-EC56-282A-4285-5EBA0EC1A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9" y="2009453"/>
            <a:ext cx="11000261" cy="41924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Risk Prediction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intake form with calibrated risk score, band, and SHAP explanation.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4E976E-04C8-D977-F1D0-06FC1DD9B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8" y="1950078"/>
            <a:ext cx="11200443" cy="411239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Business Rules Panel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simulator showing which of the 6 guardrails an applicant triggers.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D983A9-EB83-F1B5-8F01-A0F88790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61" y="1915152"/>
            <a:ext cx="11414437" cy="41473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Dockerized, Single-Command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Dockerfile builds the React frontend and Python backend into a single image. A startup entrypoint script automatically prepares the analytical database — from a bundled seed database, mounted Kaggle CSVs, or a graceful offline notice — so the evaluator never has to run a manual step.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644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Node build stage for the React frontend, Python 3.11 slim runtime for FastAPI + LightGBM + SHAP.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27889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2644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Single-service orchestration, port mapping, health check, and volume mounts for data/models/reports.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43891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docker-entrypoint.sh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8646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and activates the analytical database: seed DB → mounted CSVs → offline notice, in that order.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43891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4526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8646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every required variable — Groq API key, port, database path — so no configuration is guessed.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 →  full platform running on http://localhost:8000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2065812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9202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run on the pre-calibration base model; direction and ranking of factors remain valid since isotonic calibration is monotonic, but raw magnitudes differ from the displayed calibrated percentage.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1173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971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Feature-name/pipeline-output alignment is now protected by a hard startup assertion, added after an earlier column-drift issue was found during review.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4168932"/>
            <a:ext cx="184343" cy="184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0233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currently permissive (wildcard origin) since the entire application — frontend and backend — is deployed as a single service on Render; would be scoped to specific origins if the frontend were split into a separately hosted deployment.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09360" y="196596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2065812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19202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in Talk-to-Data so follow-up questions resolve against prior query context.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309360" y="301752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311737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858000" y="2971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POS_CASH_balance and credit_card_balance tables for a fuller behavioral feature set.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309360" y="406908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4168932"/>
            <a:ext cx="184343" cy="18434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58000" y="40233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SQLite to PostgreSQL if the platform moves beyond a single-user demo deployment.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1188720"/>
            <a:ext cx="914400" cy="91440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4264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377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31236" y="4114800"/>
            <a:ext cx="365760" cy="36576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334" y="4209898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34156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github.com/Abhishek84094/AI-Powered-Credit-Risk-Intelligence-Platform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031236" y="4617720"/>
            <a:ext cx="365760" cy="36576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334" y="4712818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34156" y="4617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ai-powered-credit-risk-intelligence.onrender.com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0" y="5577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 the NeoStats AI Engineer Role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1579</Words>
  <Application>Microsoft Office PowerPoint</Application>
  <PresentationFormat>Widescreen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Kumar</cp:lastModifiedBy>
  <cp:revision>2</cp:revision>
  <dcterms:created xsi:type="dcterms:W3CDTF">2026-09-07T08:35:45Z</dcterms:created>
  <dcterms:modified xsi:type="dcterms:W3CDTF">2026-09-07T08:53:11Z</dcterms:modified>
</cp:coreProperties>
</file>